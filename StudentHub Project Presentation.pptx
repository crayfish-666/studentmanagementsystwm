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0F4F8">
                <a:alpha val="100000"/>
              </a:srgbClr>
            </a:gs>
            <a:gs pos="100000">
              <a:srgbClr val="E3E8E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889000"/>
            <a:ext cx="4572000" cy="558800"/>
          </a:xfrm>
          <a:prstGeom prst="roundRect">
            <a:avLst>
              <a:gd name="adj" fmla="val 22727"/>
            </a:avLst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03200" rIns="203200" tIns="101600" bIns="1016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Stitch Nexus Campus 设计规范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667000"/>
            <a:ext cx="9652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254000" tIns="127000" bIns="1270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StudentHub · 学生一站式自主管理过程管理系统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318000"/>
            <a:ext cx="9144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254000" tIns="127000" bIns="12700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围绕“学生主体 + 过程档案”，覆盖 TY / ST / SQ / QG / CMP 五大业务模块的校园中台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965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254000" tIns="63500" bIns="635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开发周期：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2026.07.20 – 2026.07.22 (3天击穿垂直迭代)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项目团队：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陈宇晗 (PM / 架构师 / 前后端负责人 / 组长) | 童子涵 (QA &amp; DevOps 测试运维)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需求拆解：原始需求 + 细化迭代需求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13335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明确划分官方核心必做功能与加分拓展创新功能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2032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6F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2032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EBF2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127000" tIns="127000" bIns="1270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核心必做功能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3048000"/>
            <a:ext cx="4318000" cy="292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学生档案：学籍信息库、学号索引、班级组织关联与档案明细。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团员发展：入团申请、推优大会、培养记录、政审管理、团员花名册。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社团活动：社团立项、招新计划、活动审批与全校活动广场。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 学生社区：楼栋寝室网格、巡查打卡评分、宿舍违规异常处理。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 勤工助学：贫困生困难认定、岗位招聘发布、工时考勤打卡。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6. 综合评价：德智体美劳五维得分量化与全校综合分实时排行。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2032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EE6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2032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EBF5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127000" tIns="127000" bIns="1270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6C4C"/>
                </a:solidFill>
                <a:latin typeface="Noto Sans SC"/>
                <a:ea typeface="Noto Sans SC"/>
                <a:cs typeface="Noto Sans SC"/>
                <a:sym typeface="Noto Sans SC"/>
              </a:rPr>
              <a:t>加分拓展创新功能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3048000"/>
            <a:ext cx="4318000" cy="292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视觉重构：引入Nexus Campus规范，海蓝Pill标签与极简风UI。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状态机引擎：统一逻辑推进(S0→S3)，带全流程审计能力。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AI智慧评语：自动分析五维数据，一键生成评价与成长建议。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 自动化持久化：100%数据库关联查询，拒绝后端假数据硬编码。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 一键并发启动：Windows CMD零乱码调起双端服务。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508000"/>
            <a:ext cx="10160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技术栈清单 (Full Tech Stack Architecture)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1587500"/>
            <a:ext cx="10160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15F74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 + 高性能 SQLite 数据库 + AI 大模型中间件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1270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2286000"/>
            <a:ext cx="508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3E5">
                <a:alpha val="100000"/>
              </a:srgbClr>
            </a:solidFill>
            <a:prstDash val="solid"/>
            <a:miter lim="10000000"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514600"/>
            <a:ext cx="76200" cy="304800"/>
          </a:xfrm>
          <a:prstGeom prst="roundRect">
            <a:avLst>
              <a:gd name="adj" fmla="val 0"/>
            </a:avLst>
          </a:prstGeom>
          <a:solidFill>
            <a:srgbClr val="1477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476500"/>
            <a:ext cx="4445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25400" bIns="254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前端技术栈 (Frontend)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" y="2984500"/>
            <a:ext cx="4572000" cy="1460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Vue 3.5 (&lt;script setup&gt;)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Vite 5 构建工具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Element Plus 2.8+ UI 库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Pinia 3 状态管理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ECharts 5 数据可视化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Axios 透明刷令牌封包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94400" y="2286000"/>
            <a:ext cx="508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3E5">
                <a:alpha val="100000"/>
              </a:srgbClr>
            </a:solidFill>
            <a:prstDash val="solid"/>
            <a:miter lim="10000000"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73800" y="2514600"/>
            <a:ext cx="76200" cy="304800"/>
          </a:xfrm>
          <a:prstGeom prst="roundRect">
            <a:avLst>
              <a:gd name="adj" fmla="val 0"/>
            </a:avLst>
          </a:prstGeom>
          <a:solidFill>
            <a:srgbClr val="00B4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27800" y="2476500"/>
            <a:ext cx="4445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25400" bIns="254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后端技术栈 (Backend)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2984500"/>
            <a:ext cx="4572000" cy="1460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Java 21 / Spring Boot 3.3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MyBatis-Plus 3.5 ORM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Flyway 数据库自动迁移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Sa-Token 权限鉴权框架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Logback 结构化 JSON 日志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Spring JdbcTemplate 关联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4762500"/>
            <a:ext cx="508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3E5">
                <a:alpha val="100000"/>
              </a:srgbClr>
            </a:solidFill>
            <a:prstDash val="solid"/>
            <a:miter lim="10000000"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4991100"/>
            <a:ext cx="76200" cy="304800"/>
          </a:xfrm>
          <a:prstGeom prst="roundRect">
            <a:avLst>
              <a:gd name="adj" fmla="val 0"/>
            </a:avLst>
          </a:prstGeom>
          <a:solidFill>
            <a:srgbClr val="FF7A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4953000"/>
            <a:ext cx="4445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25400" bIns="254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数据库与存储 (Storage)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63600" y="5461000"/>
            <a:ext cx="4572000" cy="1460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SQLite3 关系型数据库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WAL 模式 (journal_mode=WAL)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Foreign Keys 外键硬约束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本地文件/MinIO 对象存储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AES-256-GCM 敏感字段加密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94400" y="4762500"/>
            <a:ext cx="508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3E5">
                <a:alpha val="100000"/>
              </a:srgbClr>
            </a:solidFill>
            <a:prstDash val="solid"/>
            <a:miter lim="10000000"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73800" y="4991100"/>
            <a:ext cx="76200" cy="304800"/>
          </a:xfrm>
          <a:prstGeom prst="roundRect">
            <a:avLst>
              <a:gd name="adj" fmla="val 0"/>
            </a:avLst>
          </a:prstGeom>
          <a:solidFill>
            <a:srgbClr val="915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27800" y="4953000"/>
            <a:ext cx="4445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25400" bIns="254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赋能与 SDK (AI Tools)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48400" y="5461000"/>
            <a:ext cx="4572000" cy="1460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DeepSeek Open AI 大模型 API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Google Stitch 设计 Token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Vitest / JUnit5 单元测试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Docker / Nginx 容器部署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start.bat UTF-8一键脚本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10160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成员分工说明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651000"/>
            <a:ext cx="10160000" cy="50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63500" bIns="635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15F74"/>
                </a:solidFill>
                <a:latin typeface="Noto Sans SC"/>
                <a:ea typeface="Noto Sans SC"/>
                <a:cs typeface="Noto Sans SC"/>
                <a:sym typeface="Noto Sans SC"/>
              </a:rPr>
              <a:t>展示《成员分工记录表》，明确团队角色与核心职责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71600"/>
                <a:gridCol w="2011680"/>
                <a:gridCol w="5852160"/>
                <a:gridCol w="1828800"/>
              </a:tblGrid>
              <a:tr h="158496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团队成员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负责角色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负责模块与具体工作内容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产出成果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</a:tr>
              <a:tr h="158496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236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陈宇晗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PM / 架构师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后端领头人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前端领头人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答辩组长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系统整体单体架构设计 (Modular Monolith) 与 PRD/SRD 编写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数据库 SQLite 模式设计及 Flyway V1.0/V1.1 脚本编写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Spring Boot 后端 35+ 子页面 API 控制器与 Service 层开发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Vue 3 前端全部视图重构与 Google Stitch Nexus UI 适配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DeepSeek AI 大模型综合评价引擎接入与 API 联调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后端全量代码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前端全量页面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数据迁移脚本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DeepSeek 接入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496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236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童子涵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QA 测试工程师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DevOps 运维工程师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编写 SQLite 数据库单元与集成测试用例 (StudentHubCrudTest.java)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验证 CRUD 增删改查无报错与自动化断言校验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编写根目录 start.bat / run.bat 一键并发启动批处理脚本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负责系统部署压测、日志排错与终测质量把控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单元测试用例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start.bat 启动脚本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部署与测试报告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160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迭代过程：需求迭代表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3810000" cy="50800"/>
          </a:xfrm>
          <a:prstGeom prst="roundRect">
            <a:avLst>
              <a:gd name="adj" fmla="val 0"/>
            </a:avLst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160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15F74"/>
                </a:solidFill>
                <a:latin typeface="Noto Sans SC"/>
                <a:ea typeface="Noto Sans SC"/>
                <a:cs typeface="Noto Sans SC"/>
                <a:sym typeface="Noto Sans SC"/>
              </a:rPr>
              <a:t>遵循 Vibe Coding 快速击穿模式，完成完整迭代链路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3040"/>
                <a:gridCol w="2103120"/>
                <a:gridCol w="5669280"/>
                <a:gridCol w="1828800"/>
              </a:tblGrid>
              <a:tr h="118872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迭代版本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目标定位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核心解决问题与新增功能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闭环验证指标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>
                        <a:alpha val="100000"/>
                      </a:srgbClr>
                    </a:solidFill>
                  </a:tcPr>
                </a:tc>
              </a:tr>
              <a:tr h="118872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v1.0 MVP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基础 MVP 架构搭建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完成基于 Spring Boot 3 与 Vue 3 的前后端骨架搭建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建立 SQLite 数据库 DDL 表结构 (sys_user, ty_application 等)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实现 JWT 登录鉴权与 Sa-Token 菜单权限隔离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通过用户登录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与菜单动态加载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872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v1.1 极简UI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设计重构与体验升级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参考 Google Stitch Nexus Campus 设计重构高颜值 UI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Flyway 自动化落盘 20 条标准数据到 SQLite 数据库中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对齐前后端 35+ 页面 JSON 字段名，解决字段显示空白问题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35 个页面全量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数据正确显示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872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v2.0 创新加分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AI 创新与测试部署闭环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接入 DeepSeek LLM 大模型，实现五维综合素质智能评估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编写 StudentHubCrudTest 自动化单元测试 (100% 通过)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• 根目录提供 start.bat 脚本，实现无冲突一键并发启动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JUnit 全绿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DeepSeek 智能响应</a:t>
                      </a:r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9906000" cy="685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赋能落地点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87500"/>
            <a:ext cx="9906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列举 AI 辅助开发的全部 5 大核心落地场景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33500"/>
            <a:ext cx="2032000" cy="76200"/>
          </a:xfrm>
          <a:prstGeom prst="roundRect">
            <a:avLst>
              <a:gd name="adj" fmla="val 0"/>
            </a:avLst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9652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2463800"/>
            <a:ext cx="508000" cy="508000"/>
          </a:xfrm>
          <a:prstGeom prst="ellipse">
            <a:avLst/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2336800"/>
            <a:ext cx="8509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AI 编写后端 CRUD &amp; 状态机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：利用 AI 快速生成 Spring Boot REST Controller、Service 逻辑及 Mapper 接口，规范实现状态推进与审计日志，减少 80% 重复工作量。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52800"/>
            <a:ext cx="9652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530600"/>
            <a:ext cx="508000" cy="508000"/>
          </a:xfrm>
          <a:prstGeom prst="ellipse">
            <a:avLst/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403600"/>
            <a:ext cx="8509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AI 优化 SQL &amp; SQLite 迁移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：AI 生成复杂的 LEFT JOIN 多表联查 SQL 语句与 SQLite 窗口函数，并自动构建 Flyway DML 自动化播种脚本。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419600"/>
            <a:ext cx="9652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4597400"/>
            <a:ext cx="508000" cy="508000"/>
          </a:xfrm>
          <a:prstGeom prst="ellipse">
            <a:avLst/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651000" y="4470400"/>
            <a:ext cx="8509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生成前端 Stitch 视觉页面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：根据视觉规范，AI 编写 Element Plus 表单、Pinia 状态管理及 ECharts 可视化图表组件，实现高质量界面展示。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181600"/>
            <a:ext cx="9652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5359400"/>
            <a:ext cx="508000" cy="508000"/>
          </a:xfrm>
          <a:prstGeom prst="ellipse">
            <a:avLst/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51000" y="5232400"/>
            <a:ext cx="8509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25400" bIns="254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AI 自动编写测试用例与文档：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生成单元测试用例，自动编写 AGENTS.md、README.md、截图指引与答辩 PPT 脚本。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系统架构、业务流程与界面展示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4605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38100" bIns="381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核心状态机流转、ECharts 驾驶舱大屏与 AI 智能评估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2446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F8F9FA">
              <a:alpha val="100000"/>
            </a:srgbClr>
          </a:solidFill>
          <a:ln w="12700" cmpd="sng" cap="flat">
            <a:solidFill>
              <a:srgbClr val="E6E8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76200" cy="330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2413000"/>
            <a:ext cx="76200" cy="330200"/>
          </a:xfrm>
          <a:prstGeom prst="roundRect">
            <a:avLst>
              <a:gd name="adj" fmla="val 0"/>
            </a:avLst>
          </a:prstGeom>
          <a:solidFill>
            <a:srgbClr val="02809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635500"/>
            <a:ext cx="76200" cy="330200"/>
          </a:xfrm>
          <a:prstGeom prst="roundRect">
            <a:avLst>
              <a:gd name="adj" fmla="val 0"/>
            </a:avLst>
          </a:prstGeom>
          <a:solidFill>
            <a:srgbClr val="D9770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4635500"/>
            <a:ext cx="76200" cy="3302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387600"/>
            <a:ext cx="431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38100" bIns="381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 状态机审批流 (State Engine)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895600"/>
            <a:ext cx="4318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状态推进：S0 草稿 → S1 公示 → S2 审批 → S3 通过 → S4 归档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硬隔离校验：状态变更统一走动作端点 (如 /submit, /approve)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审计追踪：记录操作人、时间戳与变前变后状态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215900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F8F9FA">
              <a:alpha val="100000"/>
            </a:srgbClr>
          </a:solidFill>
          <a:ln w="12700" cmpd="sng" cap="flat">
            <a:solidFill>
              <a:srgbClr val="E6E8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387600"/>
            <a:ext cx="431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38100" bIns="381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ECharts 管理驾驶舱大屏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895600"/>
            <a:ext cx="4318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可视化卡片展示全校团员比例、社团活跃排行榜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社区违规趋势分析与勤工助学岗位核算动态图表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 ECharts 5 响应式自适应布局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8150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F8F9FA">
              <a:alpha val="100000"/>
            </a:srgbClr>
          </a:solidFill>
          <a:ln w="12700" cmpd="sng" cap="flat">
            <a:solidFill>
              <a:srgbClr val="E6E8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610100"/>
            <a:ext cx="431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38100" bIns="381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 数据模型与持久化 (SQLite)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118100"/>
            <a:ext cx="4318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多表关联：idx_student 核心表关联 5 大模块业务表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WAL 模式：高并发读写性能与日志持久化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Flyway 迁移：版本化数据库变更控制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438150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F8F9FA">
              <a:alpha val="100000"/>
            </a:srgbClr>
          </a:solidFill>
          <a:ln w="12700" cmpd="sng" cap="flat">
            <a:solidFill>
              <a:srgbClr val="E6E8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610100"/>
            <a:ext cx="431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38100" bIns="381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4. AI 智能综合评估模块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5118100"/>
            <a:ext cx="4318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采集德智体美劳五维综合素质考评得分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实时调用 DeepSeek 大模型生成智能评语与建议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支持人工覆盖与审核确认机制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508000"/>
            <a:ext cx="10668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项目亮点与加分创新点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1460500"/>
            <a:ext cx="10668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业务价值击穿 + Google Stitch 视觉设计 + Vibe Coding 高效范式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76200" cy="304800"/>
          </a:xfrm>
          <a:prstGeom prst="roundRect">
            <a:avLst>
              <a:gd name="adj" fmla="val 0"/>
            </a:avLst>
          </a:prstGeom>
          <a:solidFill>
            <a:srgbClr val="0052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19200" y="2387600"/>
            <a:ext cx="4318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业务价值击穿 (Business Value)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572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63500" bIns="6350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围绕“学生主体 + 过程档案”，彻底改变传统“被动管理”模式。全方位覆盖团员发展、社团活动、社区网格、勤工助学与综合评价五大场景。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159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413000"/>
            <a:ext cx="76200" cy="3048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07200" y="2387600"/>
            <a:ext cx="4318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Stitch 视觉交互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921000"/>
            <a:ext cx="4572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63500" bIns="6350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遵循 Google Stitch Nexus Campus 设计规范，采用高颜值海蓝 Active Pill 标签、纯白侧边栏与石墨极简卡片，极大地提升用户视觉体验。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572000"/>
            <a:ext cx="76200" cy="304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19200" y="4546600"/>
            <a:ext cx="4318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状态机与全流程审计引擎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080000"/>
            <a:ext cx="4572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63500" bIns="6350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封装统一的 State Machine 引擎，严格卡控业务状态变更路径，任何关键操作实时记录审计日志，保证校园管理数据的严肃性与追溯性。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4318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4572000"/>
            <a:ext cx="76200" cy="304800"/>
          </a:xfrm>
          <a:prstGeom prst="roundRect">
            <a:avLst>
              <a:gd name="adj" fmla="val 0"/>
            </a:avLst>
          </a:prstGeom>
          <a:solidFill>
            <a:srgbClr val="9C27B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07200" y="4546600"/>
            <a:ext cx="4318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 高效敏捷范式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5080000"/>
            <a:ext cx="4572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0" rIns="0" tIns="63500" bIns="6350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借助 AI 辅助开发，在 3 天内快速击穿 35 个子页面、全模块 20 条标准数据 SQL 关联查询、100% 单元测试全绿及一键并发启动脚本。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总结与未来待优化方向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15240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25400" bIns="254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收获与实践总结 + 未来架构演进计划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236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2286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3E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2540000"/>
            <a:ext cx="4318000" cy="508000"/>
          </a:xfrm>
          <a:prstGeom prst="roundRect">
            <a:avLst>
              <a:gd name="adj" fmla="val 0"/>
            </a:avLst>
          </a:prstGeom>
          <a:solidFill>
            <a:srgbClr val="EBF1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52400" rIns="152400" tIns="76200" bIns="762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迭代收获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3238500"/>
            <a:ext cx="4318000" cy="292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52400" rIns="152400" tIns="127000" bIns="127000"/>
          <a:lstStyle/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架构能力提升：掌握 Modular Monolith 单体模块化设计与分层架构规范</a:t>
            </a:r>
            <a:endParaRPr lang="en-US" sz="1100"/>
          </a:p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数据库高可用：实践 SQLite WAL 模式、Flyway 自动化迁移与 SQL 优化</a:t>
            </a:r>
          </a:p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极简 UI 设计：基于 Google Stitch 打造现代化 Campus 界面</a:t>
            </a:r>
          </a:p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 实践：验证 AI 在全栈开发与部署中的赋能价值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43600" y="2286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3E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97600" y="2540000"/>
            <a:ext cx="4318000" cy="508000"/>
          </a:xfrm>
          <a:prstGeom prst="roundRect">
            <a:avLst>
              <a:gd name="adj" fmla="val 0"/>
            </a:avLst>
          </a:prstGeom>
          <a:solidFill>
            <a:srgbClr val="EBF1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52400" rIns="152400" tIns="76200" bIns="762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236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未来待优化方向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97600" y="3238500"/>
            <a:ext cx="4318000" cy="292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52400" rIns="152400" tIns="127000" bIns="127000"/>
          <a:lstStyle/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微服务架构演进：引入 Nacos/Spring Cloud，拆分核心业务模块</a:t>
            </a:r>
            <a:endParaRPr lang="en-US" sz="1100"/>
          </a:p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分布式缓存：引入 Redis 实现 Session 共享与热点数据缓存</a:t>
            </a:r>
          </a:p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 AI 扩充：对接 OCR 与人脸识别，优化考勤与活动签到</a:t>
            </a:r>
          </a:p>
          <a:p>
            <a:pPr algn="l" indent="-177800" marL="177800">
              <a:lnSpc>
                <a:spcPct val="133333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移动端适配：基于 UniApp 拓展微信小程序，提升使用便捷性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642584"/>
            <a:ext cx="1143000" cy="500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{"Label":"1","ContentProducer":"001191110102MACQD9K64010000","ProduceID":"7665070753650773202","ReservedCode1":"","ContentPropagator":"","PropagateID":"","ReservedCode2":""}</vt:lpwstr>
  </property>
</Properties>
</file>